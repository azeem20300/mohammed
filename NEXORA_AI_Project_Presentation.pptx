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731520"/>
            <a:ext cx="2103120" cy="2103120"/>
          </a:xfrm>
          <a:prstGeom prst="ellipse">
            <a:avLst/>
          </a:prstGeom>
          <a:solidFill>
            <a:srgbClr val="97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926080"/>
            <a:ext cx="1645920" cy="1645920"/>
          </a:xfrm>
          <a:prstGeom prst="ellipse">
            <a:avLst/>
          </a:prstGeom>
          <a:solidFill>
            <a:srgbClr val="3D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114800"/>
            <a:ext cx="1188720" cy="1188720"/>
          </a:xfrm>
          <a:prstGeom prst="ellipse">
            <a:avLst/>
          </a:prstGeom>
          <a:solidFill>
            <a:srgbClr val="49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2560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8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04088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800" b="1">
                <a:solidFill>
                  <a:srgbClr val="F6F8FF"/>
                </a:solidFill>
                <a:latin typeface="Aptos"/>
              </a:rPr>
              <a:t>Your company knows.
Now you can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62179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800" b="0">
                <a:solidFill>
                  <a:srgbClr val="B1BED7"/>
                </a:solidFill>
                <a:latin typeface="Aptos"/>
              </a:rPr>
              <a:t>A private AI knowledge assistant that turns internal documents into clear, source-backed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901184"/>
            <a:ext cx="283464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F6F8FF"/>
                </a:solidFill>
                <a:latin typeface="Aptos"/>
              </a:rPr>
              <a:t>PROJECT PRESENTATION  • 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17320"/>
            <a:ext cx="3886200" cy="384048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719072"/>
            <a:ext cx="3200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KNOWLEDGE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19456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359152"/>
            <a:ext cx="28803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F6F8FF"/>
                </a:solidFill>
                <a:latin typeface="Aptos"/>
              </a:rPr>
              <a:t>How many annual leave days do employees get?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090672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23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310128"/>
            <a:ext cx="278892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F6F8FF"/>
                </a:solidFill>
                <a:latin typeface="Aptos"/>
              </a:rPr>
              <a:t>Employees receive 18 annual leave days per year.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950208"/>
            <a:ext cx="2788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49DDE2"/>
                </a:solidFill>
                <a:latin typeface="Aptos"/>
              </a:rPr>
              <a:t>SOURCE  •  Employee Handbook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45152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B1BED7"/>
                </a:solidFill>
                <a:latin typeface="Aptos"/>
              </a:rPr>
              <a:t>Upload  •  Ask  •  Verify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Company knowledge is everywhere. Answers aren’t.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Important information is scattered across files, folders, policies and team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66360" cy="118872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13432"/>
            <a:ext cx="4069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Scattered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40233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Employees search through multiple files and folders.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48840"/>
            <a:ext cx="5166360" cy="118872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331720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313432"/>
            <a:ext cx="4069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Repeated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697480"/>
            <a:ext cx="40233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Teams answer the same policy questions again and again.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21608"/>
            <a:ext cx="5166360" cy="118872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904488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86200"/>
            <a:ext cx="4069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Slow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0248"/>
            <a:ext cx="40233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Time is lost locating and confirming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21608"/>
            <a:ext cx="5166360" cy="118872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904488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886200"/>
            <a:ext cx="4069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Low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270248"/>
            <a:ext cx="40233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Answers without clear sources are difficult to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One conversation over your company’s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Employees ask natural-language questions and receive concise answers grounded in uploaded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49DDE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27248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900" b="1">
                <a:solidFill>
                  <a:srgbClr val="F6F8FF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639312"/>
            <a:ext cx="21031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Add handbooks, policies, guides and reference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200400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9765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42316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651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49DDE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127248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900" b="1">
                <a:solidFill>
                  <a:srgbClr val="F6F8FF"/>
                </a:solidFill>
                <a:latin typeface="Aptos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639312"/>
            <a:ext cx="21031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Ask questions in plain language.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3200400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9765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2316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651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49DDE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127248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900" b="1">
                <a:solidFill>
                  <a:srgbClr val="F6F8FF"/>
                </a:solidFill>
                <a:latin typeface="Aptos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39312"/>
            <a:ext cx="21031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Find relevant information in the knowledge 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3200400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9765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423160"/>
            <a:ext cx="2514600" cy="1965960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26517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49DDE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3127248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900" b="1">
                <a:solidFill>
                  <a:srgbClr val="F6F8FF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3639312"/>
            <a:ext cx="21031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Check the source behind the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66360"/>
            <a:ext cx="99669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F6F8FF"/>
                </a:solidFill>
                <a:latin typeface="Aptos"/>
              </a:rPr>
              <a:t>Fast answers. Clear sources. Private company knowledge.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Built for everyday knowledge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A focused first version prioritizes a clear, useful upload-to-answer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350008"/>
            <a:ext cx="274320" cy="274320"/>
          </a:xfrm>
          <a:prstGeom prst="ellipse">
            <a:avLst/>
          </a:prstGeom>
          <a:solidFill>
            <a:srgbClr val="97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322576"/>
            <a:ext cx="2651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AI question answering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7063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Ask questions in natural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350008"/>
            <a:ext cx="274320" cy="274320"/>
          </a:xfrm>
          <a:prstGeom prst="ellipse">
            <a:avLst/>
          </a:prstGeom>
          <a:solidFill>
            <a:srgbClr val="3D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2322576"/>
            <a:ext cx="2651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Source 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77063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Trace answers back to source documents.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4884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19" y="2350008"/>
            <a:ext cx="274320" cy="274320"/>
          </a:xfrm>
          <a:prstGeom prst="ellipse">
            <a:avLst/>
          </a:prstGeom>
          <a:solidFill>
            <a:srgbClr val="49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2322576"/>
            <a:ext cx="2651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Document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77063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Search, preview and manage uploaded files.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3858768"/>
            <a:ext cx="274320" cy="274320"/>
          </a:xfrm>
          <a:prstGeom prst="ellipse">
            <a:avLst/>
          </a:prstGeom>
          <a:solidFill>
            <a:srgbClr val="5DD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3831336"/>
            <a:ext cx="2651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Upload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27939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See when files are being processed or are ready.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65760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3858768"/>
            <a:ext cx="274320" cy="274320"/>
          </a:xfrm>
          <a:prstGeom prst="ellipse">
            <a:avLst/>
          </a:prstGeom>
          <a:solidFill>
            <a:srgbClr val="FFB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3831336"/>
            <a:ext cx="2651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Demo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7939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Try realistic sample policies and questions.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5760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19" y="3858768"/>
            <a:ext cx="274320" cy="274320"/>
          </a:xfrm>
          <a:prstGeom prst="ellipse">
            <a:avLst/>
          </a:prstGeom>
          <a:solidFill>
            <a:srgbClr val="97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3831336"/>
            <a:ext cx="2651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Responsive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4279392"/>
            <a:ext cx="30175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Designed for desktop and mobile screens.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Show the value in under two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Use fictional sample policies to demonstrate the complete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1645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11680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F6F8FF"/>
                </a:solidFill>
                <a:latin typeface="Aptos"/>
              </a:rPr>
              <a:t>Upload sample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9152"/>
            <a:ext cx="62636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Employee Handbook, Remote Work Policy and Travel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1645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70048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F6F8FF"/>
                </a:solidFill>
                <a:latin typeface="Aptos"/>
              </a:rPr>
              <a:t>Wait for indexing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17520"/>
            <a:ext cx="62636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Confirm documents show as ready.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46704"/>
            <a:ext cx="1645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28416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F6F8FF"/>
                </a:solidFill>
                <a:latin typeface="Aptos"/>
              </a:rPr>
              <a:t>Ask a direct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675888"/>
            <a:ext cx="62636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“How many annual leave days do employees get?”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1645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986784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F6F8FF"/>
                </a:solidFill>
                <a:latin typeface="Aptos"/>
              </a:rPr>
              <a:t>Verify the citation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334256"/>
            <a:ext cx="62636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Check that the answer points to the Employee Handbook.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645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45152"/>
            <a:ext cx="6309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1">
                <a:solidFill>
                  <a:srgbClr val="F6F8FF"/>
                </a:solidFill>
                <a:latin typeface="Aptos"/>
              </a:rPr>
              <a:t>Try a cross-document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992624"/>
            <a:ext cx="6263640" cy="3931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Ask about reimbursement deadlines and remote-work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331720"/>
            <a:ext cx="3337560" cy="242316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2633472"/>
            <a:ext cx="2651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SAMPLE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3063240"/>
            <a:ext cx="269748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800" b="1">
                <a:solidFill>
                  <a:srgbClr val="F6F8FF"/>
                </a:solidFill>
                <a:latin typeface="Aptos"/>
              </a:rPr>
              <a:t>“Employees receive 18 annual leave days per year.”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041648"/>
            <a:ext cx="2651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>
                <a:solidFill>
                  <a:srgbClr val="B1BED7"/>
                </a:solidFill>
                <a:latin typeface="Aptos"/>
              </a:rPr>
              <a:t>Source: Employee Handbook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FFB95B"/>
                </a:solidFill>
                <a:latin typeface="Aptos"/>
              </a:rPr>
              <a:t>Be transparent if the current prototype uses demo responses rather than real document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Useful wherever teams rely on internal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Potential starting points for a small company or a growing organization.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10607040" cy="612648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31136"/>
            <a:ext cx="41148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49DDE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03704"/>
            <a:ext cx="2057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People &amp;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03704"/>
            <a:ext cx="7132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Leave rules, benefits, onboarding and employee handbook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2072"/>
            <a:ext cx="10607040" cy="612648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35808"/>
            <a:ext cx="41148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49DDE2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08376"/>
            <a:ext cx="2057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IT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08376"/>
            <a:ext cx="7132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Device setup, access procedures, troubleshooting and security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66744"/>
            <a:ext cx="10607040" cy="612648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40480"/>
            <a:ext cx="41148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49DDE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13048"/>
            <a:ext cx="2057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813048"/>
            <a:ext cx="7132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Standard operating procedures, checklists and internal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71416"/>
            <a:ext cx="10607040" cy="612648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45152"/>
            <a:ext cx="41148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49DDE2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617720"/>
            <a:ext cx="2057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Finance &amp; travel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617720"/>
            <a:ext cx="7132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Expense limits, claim deadlines and travel approval policies.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A practical architecture for a first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The exact implementation depends on the app builder and connected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965960"/>
            <a:ext cx="9875520" cy="530352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1226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084831"/>
            <a:ext cx="66751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F6F8FF"/>
                </a:solidFill>
                <a:latin typeface="Aptos"/>
              </a:rPr>
              <a:t>Upload • Chat • Document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679191"/>
            <a:ext cx="9875520" cy="530352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825496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3DA1FF"/>
                </a:solidFill>
                <a:latin typeface="Aptos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798063"/>
            <a:ext cx="66751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F6F8FF"/>
                </a:solidFill>
                <a:latin typeface="Aptos"/>
              </a:rPr>
              <a:t>Authentication • File management • Query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392424"/>
            <a:ext cx="9875520" cy="530352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538728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3DA1FF"/>
                </a:solidFill>
                <a:latin typeface="Aptos"/>
              </a:rPr>
              <a:t>KNOWLEDGE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511296"/>
            <a:ext cx="66751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F6F8FF"/>
                </a:solidFill>
                <a:latin typeface="Aptos"/>
              </a:rPr>
              <a:t>Extract text • Split into passages • Create searchable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05656"/>
            <a:ext cx="9875520" cy="530352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51960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AI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224528"/>
            <a:ext cx="66751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F6F8FF"/>
                </a:solidFill>
                <a:latin typeface="Aptos"/>
              </a:rPr>
              <a:t>Retrieve relevant passages • Generate grounded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818888"/>
            <a:ext cx="9875520" cy="530352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965192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3DA1FF"/>
                </a:solidFill>
                <a:latin typeface="Aptos"/>
              </a:rPr>
              <a:t>DATA &amp;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937759"/>
            <a:ext cx="66751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F6F8FF"/>
                </a:solidFill>
                <a:latin typeface="Aptos"/>
              </a:rPr>
              <a:t>Private storage • Access controls • Audit and deletion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806440"/>
            <a:ext cx="98755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Security baseline: access control, encrypted storage, permission-aware retrieval and clear data-retention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VALUE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Make knowledge easier to find — and easier to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These are expected benefits to validate during a pilot, not measured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5DDCA9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3931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Less search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88920"/>
            <a:ext cx="38862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Reduce manual hunting through folders and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19456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395728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5DDCA9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377440"/>
            <a:ext cx="3931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Fewer repeated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788920"/>
            <a:ext cx="38862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Help teams self-serve common questions.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04487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5DDCA9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86200"/>
            <a:ext cx="3931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More consistent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80"/>
            <a:ext cx="38862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Use a shared knowledge base as a reference 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70332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904487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5DDCA9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3886200"/>
            <a:ext cx="39319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Better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4297680"/>
            <a:ext cx="38862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Give employees a way to verify answers.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From prototype to a dependable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A staged roadmap keeps the core experience clear before adding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2514600" cy="20574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08960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Polished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30752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Upload, library, chat and demo scenarios.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423160"/>
            <a:ext cx="2514600" cy="20574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670048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108960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Reliable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730752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Real parsing, search and grounded citations.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423160"/>
            <a:ext cx="2514600" cy="20574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670048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3108960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Enterprise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730752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Role-based access, tenant isolation and deletion controls.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423160"/>
            <a:ext cx="2514600" cy="2057400"/>
          </a:xfrm>
          <a:prstGeom prst="roundRect">
            <a:avLst>
              <a:gd name="adj" fmla="val 12000"/>
            </a:avLst>
          </a:prstGeom>
          <a:solidFill>
            <a:srgbClr val="1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2670048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3108960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F6F8FF"/>
                </a:solidFill>
                <a:latin typeface="Aptos"/>
              </a:rPr>
              <a:t>Measure &amp; 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3730752"/>
            <a:ext cx="2103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Feedback, unanswered questions and analytics.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2011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>
                <a:solidFill>
                  <a:srgbClr val="49DDE2"/>
                </a:solidFill>
                <a:latin typeface="Aptos"/>
              </a:rPr>
              <a:t>METRICS TO 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102352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F6F8FF"/>
                </a:solidFill>
                <a:latin typeface="Aptos"/>
              </a:rPr>
              <a:t>Time to answer • Citation accuracy • Retrieval success • User satisfaction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1089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F6F8FF"/>
                </a:solidFill>
                <a:latin typeface="Aptos"/>
              </a:rPr>
              <a:t>Trust is part of the product, not an add-on.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B1BED7"/>
                </a:solidFill>
                <a:latin typeface="Aptos"/>
              </a:rPr>
              <a:t>Internal knowledge can be sensitive. The product must make boundaries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B1BED7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82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49DDE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Ground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7863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Prefer retrieved evidence; say when documents do not contain an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9191"/>
            <a:ext cx="182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49DDE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1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Show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9191"/>
            <a:ext cx="7863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Display document names and relevant passages or pages when available.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82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49DDE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92424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Protect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92424"/>
            <a:ext cx="7863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Only retrieve documents the current employee is allowed to see.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05656"/>
            <a:ext cx="182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49DDE2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05656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Respect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05656"/>
            <a:ext cx="7863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Use approved services and define retention and deletion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182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1">
                <a:solidFill>
                  <a:srgbClr val="49DDE2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18888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F6F8FF"/>
                </a:solidFill>
                <a:latin typeface="Aptos"/>
              </a:rPr>
              <a:t>Be transparent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18888"/>
            <a:ext cx="78638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Label demo behavior and distinguish it from production retrieval.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731520"/>
            <a:ext cx="2103120" cy="2103120"/>
          </a:xfrm>
          <a:prstGeom prst="ellipse">
            <a:avLst/>
          </a:prstGeom>
          <a:solidFill>
            <a:srgbClr val="976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926080"/>
            <a:ext cx="1645920" cy="1645920"/>
          </a:xfrm>
          <a:prstGeom prst="ellipse">
            <a:avLst/>
          </a:prstGeom>
          <a:solidFill>
            <a:srgbClr val="3DA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114800"/>
            <a:ext cx="1188720" cy="1188720"/>
          </a:xfrm>
          <a:prstGeom prst="ellipse">
            <a:avLst/>
          </a:prstGeom>
          <a:solidFill>
            <a:srgbClr val="49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2560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800" b="1">
                <a:solidFill>
                  <a:srgbClr val="49DDE2"/>
                </a:solidFill>
                <a:latin typeface="Aptos"/>
              </a:rPr>
              <a:t>NEXORA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04088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600" b="1">
                <a:solidFill>
                  <a:srgbClr val="F6F8FF"/>
                </a:solidFill>
                <a:latin typeface="Aptos"/>
              </a:rPr>
              <a:t>Every document.
One smart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27432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300" b="0">
                <a:solidFill>
                  <a:srgbClr val="B1BED7"/>
                </a:solidFill>
                <a:latin typeface="Aptos"/>
              </a:rPr>
              <a:t>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09160"/>
            <a:ext cx="3657600" cy="566928"/>
          </a:xfrm>
          <a:prstGeom prst="roundRect">
            <a:avLst>
              <a:gd name="adj" fmla="val 12000"/>
            </a:avLst>
          </a:prstGeom>
          <a:solidFill>
            <a:srgbClr val="20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32004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F6F8FF"/>
                </a:solidFill>
                <a:latin typeface="Aptos"/>
              </a:rPr>
              <a:t>Questions &amp;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61264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B1BED7"/>
                </a:solidFill>
                <a:latin typeface="Aptos"/>
              </a:rPr>
              <a:t>NEXORA AI  •  Private company knowledge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